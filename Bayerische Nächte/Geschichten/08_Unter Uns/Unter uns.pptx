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9" r:id="rId2"/>
    <p:sldId id="256" r:id="rId3"/>
    <p:sldId id="258" r:id="rId4"/>
    <p:sldId id="257"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33" autoAdjust="0"/>
  </p:normalViewPr>
  <p:slideViewPr>
    <p:cSldViewPr snapToGrid="0">
      <p:cViewPr varScale="1">
        <p:scale>
          <a:sx n="84" d="100"/>
          <a:sy n="84" d="100"/>
        </p:scale>
        <p:origin x="1596" y="4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5535D-94BD-4F10-ADE2-73C8AE700791}" type="datetimeFigureOut">
              <a:rPr lang="de-DE" smtClean="0"/>
              <a:t>08.02.2025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AF1F6F-0BEA-4C63-A883-E6813F65F2BA}" type="slidenum">
              <a:rPr lang="de-DE" smtClean="0"/>
              <a:t>‹Nr.›</a:t>
            </a:fld>
            <a:endParaRPr lang="de-DE"/>
          </a:p>
        </p:txBody>
      </p:sp>
    </p:spTree>
    <p:extLst>
      <p:ext uri="{BB962C8B-B14F-4D97-AF65-F5344CB8AC3E}">
        <p14:creationId xmlns:p14="http://schemas.microsoft.com/office/powerpoint/2010/main" val="3898649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e.wikipedia.org/wiki/Bayerische_Staatsbibliothek"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www.youtube.com/watch?v=gGpxklFw5GY" TargetMode="External"/><Relationship Id="rId4" Type="http://schemas.openxmlformats.org/officeDocument/2006/relationships/hyperlink" Target="https://www.youtube.com/watch?v=6NXo0p0fe_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6NXo0p0fe_0"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youtube.com/watch?v=gGpxklFw5GY"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6NXo0p0fe_0"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youtube.com/watch?v=gGpxklFw5GY"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e.wikipedia.org/wiki/Bayerische_Staatsbibliothek"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youtube.com/watch?v=gGpxklFw5GY" TargetMode="External"/><Relationship Id="rId4" Type="http://schemas.openxmlformats.org/officeDocument/2006/relationships/hyperlink" Target="https://www.youtube.com/watch?v=6NXo0p0fe_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12A1-C283-A901-F837-BB2B7C3D726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28F44BD-31F3-A45D-07BA-764F0B4D34D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CBA6A5-0BEF-6BE8-2774-5ED02E3AC6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Hier findet man unter den Menschen eine sehr nervöse Frau welche zu fliehen versucht. Es ist Janette aus München, auf der Suche nach mehr Antworten.</a:t>
            </a:r>
            <a:br>
              <a:rPr lang="de-DE" dirty="0"/>
            </a:br>
            <a:br>
              <a:rPr lang="de-DE" dirty="0"/>
            </a:br>
            <a:r>
              <a:rPr lang="de-DE" dirty="0"/>
              <a:t>Janette Landgraf (27), Bibliothekarin in der </a:t>
            </a:r>
            <a:r>
              <a:rPr lang="de-DE" b="0" i="0" u="none" strike="noStrike" dirty="0">
                <a:solidFill>
                  <a:srgbClr val="0645AD"/>
                </a:solidFill>
                <a:effectLst/>
                <a:latin typeface="Arial" panose="020B0604020202020204" pitchFamily="34" charset="0"/>
                <a:hlinkClick r:id="rId3"/>
              </a:rPr>
              <a:t>Hof- und Staatsbibliothek</a:t>
            </a:r>
            <a:r>
              <a:rPr lang="de-DE" b="0" i="0" u="none" strike="noStrike" dirty="0">
                <a:solidFill>
                  <a:srgbClr val="0645AD"/>
                </a:solidFill>
                <a:effectLst/>
                <a:latin typeface="Arial" panose="020B0604020202020204" pitchFamily="34" charset="0"/>
              </a:rPr>
              <a:t>. Extrovertiert und gesprächig, bei wissenschaftlichen Dingen ruhig und sehr genau.</a:t>
            </a:r>
            <a:br>
              <a:rPr lang="de-DE" b="0" i="0" u="none" strike="noStrike" dirty="0">
                <a:solidFill>
                  <a:srgbClr val="0645AD"/>
                </a:solidFill>
                <a:effectLst/>
                <a:latin typeface="Arial" panose="020B0604020202020204" pitchFamily="34" charset="0"/>
              </a:rPr>
            </a:br>
            <a:r>
              <a:rPr lang="de-DE" b="0" i="0" u="none" strike="noStrike" dirty="0">
                <a:solidFill>
                  <a:srgbClr val="0645AD"/>
                </a:solidFill>
                <a:effectLst/>
                <a:latin typeface="Arial" panose="020B0604020202020204" pitchFamily="34" charset="0"/>
              </a:rPr>
              <a:t>Zuständig für kulturelle Schriften und Sagen, spezialisiert auf Osteuropa. Hat ein Buch gefunden „Monstrum, </a:t>
            </a:r>
            <a:r>
              <a:rPr lang="de-DE" b="0" i="0" u="none" strike="noStrike" dirty="0" err="1">
                <a:solidFill>
                  <a:srgbClr val="0645AD"/>
                </a:solidFill>
                <a:effectLst/>
                <a:latin typeface="Arial" panose="020B0604020202020204" pitchFamily="34" charset="0"/>
              </a:rPr>
              <a:t>rituál</a:t>
            </a:r>
            <a:r>
              <a:rPr lang="de-DE" b="0" i="0" u="none" strike="noStrike" dirty="0">
                <a:solidFill>
                  <a:srgbClr val="0645AD"/>
                </a:solidFill>
                <a:effectLst/>
                <a:latin typeface="Arial" panose="020B0604020202020204" pitchFamily="34" charset="0"/>
              </a:rPr>
              <a:t> “, eine semi-alte Schrift über Rituale in der Tschechoslowakei. Hier findet man eine Erklärung über Runenschrift zur Bändigung von bösen Wesen und wie man sich deren Kräfte zu Nutzen machen kann.</a:t>
            </a:r>
            <a:endParaRPr lang="de-DE" dirty="0"/>
          </a:p>
          <a:p>
            <a:r>
              <a:rPr lang="de-DE" dirty="0"/>
              <a:t>Sie wurde von den Helden vor ihrem eigenen Enkel gerettet und nun weiß sie, dass ihr zukünftiger Ehemann Maximilian sein wird.</a:t>
            </a:r>
          </a:p>
          <a:p>
            <a:endParaRPr lang="de-DE" dirty="0"/>
          </a:p>
          <a:p>
            <a:endParaRPr lang="de-DE" dirty="0"/>
          </a:p>
          <a:p>
            <a:pPr marL="742950" lvl="1" indent="-285750">
              <a:spcBef>
                <a:spcPts val="1000"/>
              </a:spcBef>
              <a:spcAft>
                <a:spcPts val="600"/>
              </a:spcAft>
              <a:buFont typeface="Arial" panose="020B0604020202020204" pitchFamily="34" charset="0"/>
              <a:buChar char=""/>
            </a:pPr>
            <a:r>
              <a:rPr lang="de-DE" sz="1600" b="1" kern="100" dirty="0">
                <a:effectLst/>
                <a:latin typeface="Liberation Sans"/>
                <a:ea typeface="Microsoft YaHei" panose="020B0503020204020204" pitchFamily="34" charset="-122"/>
              </a:rPr>
              <a:t>Unter uns</a:t>
            </a:r>
          </a:p>
          <a:p>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Musik und Ambiente:</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Klavier: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4"/>
              </a:rPr>
              <a:t>https://www.youtube.com/watch?v=6NXo0p0fe_0</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Dampfschiff: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5"/>
              </a:rPr>
              <a:t>https://www.youtube.com/watch?v=gGpxklFw5GY</a:t>
            </a:r>
            <a:endParaRPr lang="de-DE" sz="1200" kern="100" dirty="0">
              <a:effectLst/>
              <a:latin typeface="Liberation Serif"/>
              <a:ea typeface="NSimSun" panose="02010609030101010101" pitchFamily="49" charset="-122"/>
              <a:cs typeface="Lucida Sans" panose="020B0602030504020204" pitchFamily="34" charset="0"/>
            </a:endParaRP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Einleitung</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sind am Abend des 07.05.1882 auf der Suche nach dem Gestaltwandler. Der Besatzung unter Kapitän </a:t>
            </a:r>
            <a:r>
              <a:rPr lang="de-DE" sz="1200" kern="100" dirty="0" err="1">
                <a:effectLst/>
                <a:latin typeface="Liberation Serif"/>
                <a:ea typeface="NSimSun" panose="02010609030101010101" pitchFamily="49" charset="-122"/>
                <a:cs typeface="Lucida Sans" panose="020B0602030504020204" pitchFamily="34" charset="0"/>
              </a:rPr>
              <a:t>Gunbald</a:t>
            </a:r>
            <a:r>
              <a:rPr lang="de-DE" sz="1200" kern="100" dirty="0">
                <a:effectLst/>
                <a:latin typeface="Liberation Serif"/>
                <a:ea typeface="NSimSun" panose="02010609030101010101" pitchFamily="49" charset="-122"/>
                <a:cs typeface="Lucida Sans" panose="020B0602030504020204" pitchFamily="34" charset="0"/>
              </a:rPr>
              <a:t> Karlos wird erklärt, dass Heinrich unter den Toden ist, er wurde fachmännisch verkleidet.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Sir Charles als Chef der Firma hat schon oft gewechselt, meistens war die vorherige Person unter mysteriösen Umständen verschwunden.</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Hauptteil</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Janette ist unter den Passagieren und wird bei der Suche entdeckt. Wird sie nicht mit Silber überprüft, dann wird sie von Sir Charles gespielt und die Geschichte dreht sich um ihre Entführung und die Verhandlungen um seine und ihre Freiheit.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Entführt Janette</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Auf die Seite der Helden wird ihnen der bekannte Leibwächter des Luxusabteils, Maksim Saizew gestellt. Dieser zeigt in wichtigen Momenten seine Verletztheit über den Tod von Heinrich, die beiden waren gut befreundet. Hier kann psychologisch geholfen werden um einen starken Verbündeten zu behalten.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Maksim als Verbündeter</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können Sir Charles fangen, da keiner der Gäste an die Reling gelassen wird, oder diese abgesperrt ist. So kann auch ein Versuch als Thunfisch in der Küche zu fliehen verhindert werden.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wird geschickt gefangen</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sollen Charles befragen und seine Motive kennen lernen, damit sie den politischen und diplomatischen Schaden abwenden können. Er erzählt ihnen von den Jahrhunderten langen Vorbereitungen und wie er nicht der Einzige in hohen Positionen ist. Der Teufel sucht seinesgleichen und wird seinen Plan in gut einem Jahr in die Tat umsetzen. Passt man gut auf so merkt man, das in Charles eine Münze steckt.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besiegt so hinterlässt er, nachdem seine Überreste fast komplett verdampft sind, eine Münze mit einer Teufelsprägung. Janette kann diese wiedererkennen, die Kreatur in „Das namenlose Monster“ oder „</a:t>
            </a:r>
            <a:r>
              <a:rPr lang="de-DE" sz="1200" kern="100" dirty="0" err="1">
                <a:effectLst/>
                <a:latin typeface="Liberation Serif"/>
                <a:ea typeface="NSimSun" panose="02010609030101010101" pitchFamily="49" charset="-122"/>
                <a:cs typeface="Lucida Sans" panose="020B0602030504020204" pitchFamily="34" charset="0"/>
              </a:rPr>
              <a:t>Obluda</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Kter</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Nem</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Sv</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Jm</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err="1">
                <a:effectLst/>
                <a:latin typeface="Liberation Serif"/>
                <a:ea typeface="NSimSun" panose="02010609030101010101" pitchFamily="49" charset="-122"/>
                <a:cs typeface="Lucida Sans" panose="020B0602030504020204" pitchFamily="34" charset="0"/>
              </a:rPr>
              <a:t>no</a:t>
            </a:r>
            <a:r>
              <a:rPr lang="de-DE" sz="1200" kern="100" dirty="0">
                <a:effectLst/>
                <a:latin typeface="Liberation Serif"/>
                <a:ea typeface="NSimSun" panose="02010609030101010101" pitchFamily="49" charset="-122"/>
                <a:cs typeface="Lucida Sans" panose="020B0602030504020204" pitchFamily="34" charset="0"/>
              </a:rPr>
              <a:t>“ hat nach seinem Selbstmord ebenfalls so eine hinterlassen. Die Spur der Münze führt nach Prag und von dort nach Erfurt.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angegriffen oder tollpatschig in die Ecke gedrängt dann wird er kämpfen. Silber schadet ihm aber er kann Körperteile schnell nachwachsen lassen. Auch kann er sich schnell an unterschiedlichen Gliedmaßen verstärken oder Tierformen annehmen.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Kampf gegen Charles</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Am wichtigsten ist, dass niemand mitbekommt, das etwas Dämonisches vor sich geht. Egal ob der Kapitän oder die Crew und Gäste. Denn sonst wird der Kapitän extrem paranoid und lässt niemanden von Bord in der nächsten Ankunft in Gibraltar.</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Schluss</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Man kommt in Gibraltar an</a:t>
            </a:r>
          </a:p>
          <a:p>
            <a:endParaRPr lang="de-DE" dirty="0"/>
          </a:p>
        </p:txBody>
      </p:sp>
      <p:sp>
        <p:nvSpPr>
          <p:cNvPr id="4" name="Foliennummernplatzhalter 3">
            <a:extLst>
              <a:ext uri="{FF2B5EF4-FFF2-40B4-BE49-F238E27FC236}">
                <a16:creationId xmlns:a16="http://schemas.microsoft.com/office/drawing/2014/main" id="{FD018897-7361-8F1B-194A-939A0B15DBD5}"/>
              </a:ext>
            </a:extLst>
          </p:cNvPr>
          <p:cNvSpPr>
            <a:spLocks noGrp="1"/>
          </p:cNvSpPr>
          <p:nvPr>
            <p:ph type="sldNum" sz="quarter" idx="5"/>
          </p:nvPr>
        </p:nvSpPr>
        <p:spPr/>
        <p:txBody>
          <a:bodyPr/>
          <a:lstStyle/>
          <a:p>
            <a:fld id="{10AF1F6F-0BEA-4C63-A883-E6813F65F2BA}" type="slidenum">
              <a:rPr lang="de-DE" smtClean="0"/>
              <a:t>1</a:t>
            </a:fld>
            <a:endParaRPr lang="de-DE"/>
          </a:p>
        </p:txBody>
      </p:sp>
    </p:spTree>
    <p:extLst>
      <p:ext uri="{BB962C8B-B14F-4D97-AF65-F5344CB8AC3E}">
        <p14:creationId xmlns:p14="http://schemas.microsoft.com/office/powerpoint/2010/main" val="2605664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solidFill>
                  <a:srgbClr val="CCCCCC"/>
                </a:solidFill>
                <a:effectLst/>
                <a:latin typeface="Consolas" panose="020B0609020204030204" pitchFamily="49" charset="0"/>
              </a:rPr>
              <a:t>Agnes Margarethe Steinmeier Fürstin zu Lichtenstein, unschuldige Mitpassagierin der Luxusklasse</a:t>
            </a:r>
          </a:p>
          <a:p>
            <a:endParaRPr lang="de-DE" dirty="0"/>
          </a:p>
          <a:p>
            <a:r>
              <a:rPr lang="de-DE" b="1" dirty="0" err="1"/>
              <a:t>Akane</a:t>
            </a:r>
            <a:r>
              <a:rPr lang="de-DE" b="1" dirty="0"/>
              <a:t> Watanabe, Auslandssekretärin der Helden</a:t>
            </a:r>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569CD6"/>
                </a:solidFill>
                <a:effectLst/>
                <a:latin typeface="Consolas" panose="020B0609020204030204" pitchFamily="49" charset="0"/>
              </a:rPr>
              <a:t>Sir Charles Marshal of West Harborough and </a:t>
            </a:r>
            <a:r>
              <a:rPr lang="en-US" b="1" dirty="0" err="1">
                <a:solidFill>
                  <a:srgbClr val="569CD6"/>
                </a:solidFill>
                <a:effectLst/>
                <a:latin typeface="Consolas" panose="020B0609020204030204" pitchFamily="49" charset="0"/>
              </a:rPr>
              <a:t>Suttings</a:t>
            </a:r>
            <a:r>
              <a:rPr lang="en-US" b="1" dirty="0">
                <a:solidFill>
                  <a:srgbClr val="569CD6"/>
                </a:solidFill>
                <a:effectLst/>
                <a:latin typeface="Consolas" panose="020B0609020204030204" pitchFamily="49" charset="0"/>
              </a:rPr>
              <a:t>, </a:t>
            </a:r>
            <a:r>
              <a:rPr lang="en-US" b="1" dirty="0" err="1">
                <a:solidFill>
                  <a:srgbClr val="569CD6"/>
                </a:solidFill>
                <a:effectLst/>
                <a:latin typeface="Consolas" panose="020B0609020204030204" pitchFamily="49" charset="0"/>
              </a:rPr>
              <a:t>Gestaltwandler</a:t>
            </a:r>
            <a:r>
              <a:rPr lang="en-US" b="1" dirty="0">
                <a:solidFill>
                  <a:srgbClr val="569CD6"/>
                </a:solidFill>
                <a:effectLst/>
                <a:latin typeface="Consolas" panose="020B0609020204030204" pitchFamily="49" charset="0"/>
              </a:rPr>
              <a:t> und </a:t>
            </a:r>
            <a:r>
              <a:rPr lang="en-US" b="1" dirty="0" err="1">
                <a:solidFill>
                  <a:srgbClr val="569CD6"/>
                </a:solidFill>
                <a:effectLst/>
                <a:latin typeface="Consolas" panose="020B0609020204030204" pitchFamily="49" charset="0"/>
              </a:rPr>
              <a:t>Oberhaupt</a:t>
            </a:r>
            <a:r>
              <a:rPr lang="en-US" b="1" dirty="0">
                <a:solidFill>
                  <a:srgbClr val="569CD6"/>
                </a:solidFill>
                <a:effectLst/>
                <a:latin typeface="Consolas" panose="020B0609020204030204" pitchFamily="49" charset="0"/>
              </a:rPr>
              <a:t> der </a:t>
            </a:r>
            <a:r>
              <a:rPr lang="de-DE" b="1" dirty="0">
                <a:solidFill>
                  <a:srgbClr val="CCCCCC"/>
                </a:solidFill>
                <a:effectLst/>
                <a:latin typeface="Consolas" panose="020B0609020204030204" pitchFamily="49" charset="0"/>
              </a:rPr>
              <a:t>Berkshire Holdings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Consolas" panose="020B0609020204030204" pitchFamily="49" charset="0"/>
            </a:endParaRPr>
          </a:p>
          <a:p>
            <a:r>
              <a:rPr lang="de-DE" b="1" dirty="0"/>
              <a:t>Maksim Saizew, Leibwächter und Freund des toten Heinrich </a:t>
            </a:r>
            <a:r>
              <a:rPr lang="de-DE" sz="1800" b="1" dirty="0" err="1">
                <a:effectLst/>
                <a:latin typeface="Liberation Serif"/>
                <a:ea typeface="NSimSun" panose="02010609030101010101" pitchFamily="49" charset="-122"/>
                <a:cs typeface="Lucida Sans" panose="020B0602030504020204" pitchFamily="34" charset="0"/>
              </a:rPr>
              <a:t>Przcokisz</a:t>
            </a:r>
            <a:endParaRPr lang="de-DE" b="1" dirty="0"/>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err="1">
                <a:solidFill>
                  <a:srgbClr val="569CD6"/>
                </a:solidFill>
                <a:effectLst/>
                <a:latin typeface="Consolas" panose="020B0609020204030204" pitchFamily="49" charset="0"/>
              </a:rPr>
              <a:t>Gunbald</a:t>
            </a:r>
            <a:r>
              <a:rPr lang="de-DE" b="1" dirty="0">
                <a:solidFill>
                  <a:srgbClr val="569CD6"/>
                </a:solidFill>
                <a:effectLst/>
                <a:latin typeface="Consolas" panose="020B0609020204030204" pitchFamily="49" charset="0"/>
              </a:rPr>
              <a:t> Karlos, Kapitän der Ostfriesland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solidFill>
                <a:srgbClr val="569CD6"/>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solidFill>
                  <a:srgbClr val="569CD6"/>
                </a:solidFill>
                <a:effectLst/>
                <a:latin typeface="Consolas" panose="020B0609020204030204" pitchFamily="49" charset="0"/>
              </a:rPr>
              <a:t>Mori </a:t>
            </a:r>
            <a:r>
              <a:rPr lang="de-DE" b="1" dirty="0" err="1">
                <a:solidFill>
                  <a:srgbClr val="569CD6"/>
                </a:solidFill>
                <a:effectLst/>
                <a:latin typeface="Consolas" panose="020B0609020204030204" pitchFamily="49" charset="0"/>
              </a:rPr>
              <a:t>Arinori</a:t>
            </a:r>
            <a:r>
              <a:rPr lang="de-DE" b="1" dirty="0">
                <a:solidFill>
                  <a:srgbClr val="569CD6"/>
                </a:solidFill>
                <a:effectLst/>
                <a:latin typeface="Consolas" panose="020B0609020204030204" pitchFamily="49" charset="0"/>
              </a:rPr>
              <a:t>, getöteter japanischer Botschafter zu </a:t>
            </a:r>
            <a:r>
              <a:rPr lang="de-DE" b="1" dirty="0" err="1">
                <a:solidFill>
                  <a:srgbClr val="569CD6"/>
                </a:solidFill>
                <a:effectLst/>
                <a:latin typeface="Consolas" panose="020B0609020204030204" pitchFamily="49" charset="0"/>
              </a:rPr>
              <a:t>Großbritanien</a:t>
            </a:r>
            <a:endParaRPr lang="de-DE" b="1" dirty="0">
              <a:solidFill>
                <a:srgbClr val="569CD6"/>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solidFill>
                <a:srgbClr val="569CD6"/>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solidFill>
                <a:srgbClr val="569CD6"/>
              </a:solidFill>
              <a:effectLst/>
              <a:latin typeface="Consolas" panose="020B0609020204030204" pitchFamily="49" charset="0"/>
            </a:endParaRPr>
          </a:p>
          <a:p>
            <a:pPr marL="742950" lvl="1" indent="-285750">
              <a:spcBef>
                <a:spcPts val="1000"/>
              </a:spcBef>
              <a:spcAft>
                <a:spcPts val="600"/>
              </a:spcAft>
              <a:buFont typeface="Arial" panose="020B0604020202020204" pitchFamily="34" charset="0"/>
              <a:buChar char=""/>
            </a:pPr>
            <a:r>
              <a:rPr lang="de-DE" sz="1600" b="1" kern="100" dirty="0">
                <a:effectLst/>
                <a:latin typeface="Liberation Sans"/>
                <a:ea typeface="Microsoft YaHei" panose="020B0503020204020204" pitchFamily="34" charset="-122"/>
              </a:rPr>
              <a:t>Unter uns</a:t>
            </a:r>
          </a:p>
          <a:p>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Musik und Ambiente:</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Klavier: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3"/>
              </a:rPr>
              <a:t>https://www.youtube.com/watch?v=6NXo0p0fe_0</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Dampfschiff: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4"/>
              </a:rPr>
              <a:t>https://www.youtube.com/watch?v=gGpxklFw5GY</a:t>
            </a:r>
            <a:endParaRPr lang="de-DE" sz="1200" kern="100" dirty="0">
              <a:effectLst/>
              <a:latin typeface="Liberation Serif"/>
              <a:ea typeface="NSimSun" panose="02010609030101010101" pitchFamily="49" charset="-122"/>
              <a:cs typeface="Lucida Sans" panose="020B0602030504020204" pitchFamily="34" charset="0"/>
            </a:endParaRP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Einleitung</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sind am Abend des 07.05.1882 auf der Suche nach dem Gestaltwandler. Der Besatzung unter Kapitän </a:t>
            </a:r>
            <a:r>
              <a:rPr lang="de-DE" sz="1200" kern="100" dirty="0" err="1">
                <a:effectLst/>
                <a:latin typeface="Liberation Serif"/>
                <a:ea typeface="NSimSun" panose="02010609030101010101" pitchFamily="49" charset="-122"/>
                <a:cs typeface="Lucida Sans" panose="020B0602030504020204" pitchFamily="34" charset="0"/>
              </a:rPr>
              <a:t>Gunbald</a:t>
            </a:r>
            <a:r>
              <a:rPr lang="de-DE" sz="1200" kern="100" dirty="0">
                <a:effectLst/>
                <a:latin typeface="Liberation Serif"/>
                <a:ea typeface="NSimSun" panose="02010609030101010101" pitchFamily="49" charset="-122"/>
                <a:cs typeface="Lucida Sans" panose="020B0602030504020204" pitchFamily="34" charset="0"/>
              </a:rPr>
              <a:t> Karlos wird erklärt, dass Heinrich unter den Toden ist, er wurde fachmännisch verkleidet.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Sir Charles als Chef der Firma hat schon oft gewechselt, meistens war die vorherige Person unter mysteriösen Umständen verschwunden.</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Hauptteil</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Janette ist unter den Passagieren und wird bei der Suche entdeckt. Wird sie nicht mit Silber überprüft, dann wird sie von Sir Charles gespielt und die Geschichte dreht sich um ihre Entführung und die Verhandlungen um seine und ihre Freiheit.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Entführt Janette</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Auf die Seite der Helden wird ihnen der bekannte Leibwächter des Luxusabteils, Maksim Saizew gestellt. Dieser zeigt in wichtigen Momenten seine Verletztheit über den Tod von Heinrich, die beiden waren gut befreundet. Hier kann psychologisch geholfen werden um einen starken Verbündeten zu behalten.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Maksim als Verbündeter</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können Sir Charles fangen, da keiner der Gäste an die Reling gelassen wird, oder diese abgesperrt ist. So kann auch ein Versuch als Thunfisch in der Küche zu fliehen verhindert werden.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wird geschickt gefangen</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sollen Charles befragen und seine Motive kennen lernen, damit sie den politischen und diplomatischen Schaden abwenden können. Er erzählt ihnen von den Jahrhunderten langen Vorbereitungen und wie er nicht der Einzige in hohen Positionen ist. Der Teufel sucht seinesgleichen und wird seinen Plan in gut einem Jahr in die Tat umsetzen. Passt man gut auf so merkt man, das in Charles eine Münze steckt.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besiegt so hinterlässt er, nachdem seine Überreste fast komplett verdampft sind, eine Münze mit einer Teufelsprägung. Janette kann diese wiedererkennen, die Kreatur in „Das namenlose Monster“ oder „</a:t>
            </a:r>
            <a:r>
              <a:rPr lang="de-DE" sz="1200" kern="100" dirty="0" err="1">
                <a:effectLst/>
                <a:latin typeface="Liberation Serif"/>
                <a:ea typeface="NSimSun" panose="02010609030101010101" pitchFamily="49" charset="-122"/>
                <a:cs typeface="Lucida Sans" panose="020B0602030504020204" pitchFamily="34" charset="0"/>
              </a:rPr>
              <a:t>Obluda</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Kter</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Nem</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Sv</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Jm</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err="1">
                <a:effectLst/>
                <a:latin typeface="Liberation Serif"/>
                <a:ea typeface="NSimSun" panose="02010609030101010101" pitchFamily="49" charset="-122"/>
                <a:cs typeface="Lucida Sans" panose="020B0602030504020204" pitchFamily="34" charset="0"/>
              </a:rPr>
              <a:t>no</a:t>
            </a:r>
            <a:r>
              <a:rPr lang="de-DE" sz="1200" kern="100" dirty="0">
                <a:effectLst/>
                <a:latin typeface="Liberation Serif"/>
                <a:ea typeface="NSimSun" panose="02010609030101010101" pitchFamily="49" charset="-122"/>
                <a:cs typeface="Lucida Sans" panose="020B0602030504020204" pitchFamily="34" charset="0"/>
              </a:rPr>
              <a:t>“ hat nach seinem Selbstmord ebenfalls so eine hinterlassen. Die Spur der Münze führt nach Prag und von dort nach Erfurt.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angegriffen oder tollpatschig in die Ecke gedrängt dann wird er kämpfen. Silber schadet ihm aber er kann Körperteile schnell nachwachsen lassen. Auch kann er sich schnell an unterschiedlichen Gliedmaßen verstärken oder Tierformen annehmen.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Kampf gegen Charles</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Am wichtigsten ist, dass niemand mitbekommt, das etwas Dämonisches vor sich geht. Egal ob der Kapitän oder die Crew und Gäste. Denn sonst wird der Kapitän extrem paranoid und lässt niemanden von Bord in der nächsten Ankunft in Gibraltar.</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Schluss</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Man kommt in Gibraltar 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dirty="0">
              <a:solidFill>
                <a:srgbClr val="569CD6"/>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0" dirty="0">
              <a:solidFill>
                <a:srgbClr val="CCCCCC"/>
              </a:solidFill>
              <a:effectLst/>
              <a:latin typeface="Consolas" panose="020B0609020204030204" pitchFamily="49" charset="0"/>
            </a:endParaRPr>
          </a:p>
          <a:p>
            <a:endParaRPr lang="de-DE" dirty="0"/>
          </a:p>
        </p:txBody>
      </p:sp>
      <p:sp>
        <p:nvSpPr>
          <p:cNvPr id="4" name="Foliennummernplatzhalter 3"/>
          <p:cNvSpPr>
            <a:spLocks noGrp="1"/>
          </p:cNvSpPr>
          <p:nvPr>
            <p:ph type="sldNum" sz="quarter" idx="5"/>
          </p:nvPr>
        </p:nvSpPr>
        <p:spPr/>
        <p:txBody>
          <a:bodyPr/>
          <a:lstStyle/>
          <a:p>
            <a:fld id="{10AF1F6F-0BEA-4C63-A883-E6813F65F2BA}" type="slidenum">
              <a:rPr lang="de-DE" smtClean="0"/>
              <a:t>2</a:t>
            </a:fld>
            <a:endParaRPr lang="de-DE"/>
          </a:p>
        </p:txBody>
      </p:sp>
    </p:spTree>
    <p:extLst>
      <p:ext uri="{BB962C8B-B14F-4D97-AF65-F5344CB8AC3E}">
        <p14:creationId xmlns:p14="http://schemas.microsoft.com/office/powerpoint/2010/main" val="1672719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EF2B-6817-3568-BCE6-0071EDE6A6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6A1D314-41DA-449F-C793-1956927C078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FF14271-EA8B-DA3C-5991-160DE3DCDDFD}"/>
              </a:ext>
            </a:extLst>
          </p:cNvPr>
          <p:cNvSpPr>
            <a:spLocks noGrp="1"/>
          </p:cNvSpPr>
          <p:nvPr>
            <p:ph type="body" idx="1"/>
          </p:nvPr>
        </p:nvSpPr>
        <p:spPr/>
        <p:txBody>
          <a:bodyPr/>
          <a:lstStyle/>
          <a:p>
            <a:r>
              <a:rPr lang="de-DE" dirty="0"/>
              <a:t>Esszimmer der Mittelklasse, hier findet sich zu erst niemand unter den Menschen</a:t>
            </a:r>
          </a:p>
          <a:p>
            <a:endParaRPr lang="de-DE" dirty="0"/>
          </a:p>
          <a:p>
            <a:r>
              <a:rPr lang="de-DE" dirty="0"/>
              <a:t>Erst in der Küche wird man fündig, Schleim ist zugegen. Sir Charles tarnt sich im Viehstall als eine Kuh</a:t>
            </a:r>
          </a:p>
          <a:p>
            <a:endParaRPr lang="de-DE" dirty="0"/>
          </a:p>
          <a:p>
            <a:r>
              <a:rPr lang="de-DE" dirty="0"/>
              <a:t>Kampf gegen Charles:</a:t>
            </a:r>
            <a:br>
              <a:rPr lang="de-DE" dirty="0"/>
            </a:br>
            <a:r>
              <a:rPr lang="de-DE" dirty="0"/>
              <a:t>HP: 500 bis alle Kalorien aufgebraucht sind</a:t>
            </a:r>
          </a:p>
          <a:p>
            <a:r>
              <a:rPr lang="de-DE" dirty="0"/>
              <a:t>Silber macht 5x Schaden und kann ein Körperteil lahmlegen</a:t>
            </a:r>
            <a:br>
              <a:rPr lang="de-DE" dirty="0"/>
            </a:br>
            <a:r>
              <a:rPr lang="de-DE" dirty="0"/>
              <a:t>Er verwandelt einzelne Körperteile in die eines Tieres angepasst an die Situation.</a:t>
            </a:r>
            <a:br>
              <a:rPr lang="de-DE" dirty="0"/>
            </a:br>
            <a:r>
              <a:rPr lang="de-DE" dirty="0"/>
              <a:t>Angriff: 75</a:t>
            </a:r>
            <a:br>
              <a:rPr lang="de-DE" dirty="0"/>
            </a:br>
            <a:r>
              <a:rPr lang="de-DE" dirty="0"/>
              <a:t>Verteidigung: 50</a:t>
            </a:r>
          </a:p>
          <a:p>
            <a:endParaRPr lang="de-DE" dirty="0"/>
          </a:p>
          <a:p>
            <a:endParaRPr lang="de-DE" dirty="0"/>
          </a:p>
          <a:p>
            <a:pPr marL="742950" lvl="1" indent="-285750">
              <a:spcBef>
                <a:spcPts val="1000"/>
              </a:spcBef>
              <a:spcAft>
                <a:spcPts val="600"/>
              </a:spcAft>
              <a:buFont typeface="Arial" panose="020B0604020202020204" pitchFamily="34" charset="0"/>
              <a:buChar char=""/>
            </a:pPr>
            <a:r>
              <a:rPr lang="de-DE" sz="1600" b="1" kern="100" dirty="0">
                <a:effectLst/>
                <a:latin typeface="Liberation Sans"/>
                <a:ea typeface="Microsoft YaHei" panose="020B0503020204020204" pitchFamily="34" charset="-122"/>
              </a:rPr>
              <a:t>Unter uns</a:t>
            </a:r>
          </a:p>
          <a:p>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Musik und Ambiente:</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Klavier: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3"/>
              </a:rPr>
              <a:t>https://www.youtube.com/watch?v=6NXo0p0fe_0</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Dampfschiff: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4"/>
              </a:rPr>
              <a:t>https://www.youtube.com/watch?v=gGpxklFw5GY</a:t>
            </a:r>
            <a:endParaRPr lang="de-DE" sz="1200" kern="100" dirty="0">
              <a:effectLst/>
              <a:latin typeface="Liberation Serif"/>
              <a:ea typeface="NSimSun" panose="02010609030101010101" pitchFamily="49" charset="-122"/>
              <a:cs typeface="Lucida Sans" panose="020B0602030504020204" pitchFamily="34" charset="0"/>
            </a:endParaRP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Einleitung</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sind am Abend des 07.05.1882 auf der Suche nach dem Gestaltwandler. Der Besatzung unter Kapitän </a:t>
            </a:r>
            <a:r>
              <a:rPr lang="de-DE" sz="1200" kern="100" dirty="0" err="1">
                <a:effectLst/>
                <a:latin typeface="Liberation Serif"/>
                <a:ea typeface="NSimSun" panose="02010609030101010101" pitchFamily="49" charset="-122"/>
                <a:cs typeface="Lucida Sans" panose="020B0602030504020204" pitchFamily="34" charset="0"/>
              </a:rPr>
              <a:t>Gunbald</a:t>
            </a:r>
            <a:r>
              <a:rPr lang="de-DE" sz="1200" kern="100" dirty="0">
                <a:effectLst/>
                <a:latin typeface="Liberation Serif"/>
                <a:ea typeface="NSimSun" panose="02010609030101010101" pitchFamily="49" charset="-122"/>
                <a:cs typeface="Lucida Sans" panose="020B0602030504020204" pitchFamily="34" charset="0"/>
              </a:rPr>
              <a:t> Karlos wird erklärt, dass Heinrich unter den Toden ist, er wurde fachmännisch verkleidet.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Sir Charles als Chef der Firma hat schon oft gewechselt, meistens war die vorherige Person unter mysteriösen Umständen verschwunden.</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Hauptteil</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Janette ist unter den Passagieren und wird bei der Suche entdeckt. Wird sie nicht mit Silber überprüft, dann wird sie von Sir Charles gespielt und die Geschichte dreht sich um ihre Entführung und die Verhandlungen um seine und ihre Freiheit.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Entführt Janette</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Auf die Seite der Helden wird ihnen der bekannte Leibwächter des Luxusabteils, Maksim Saizew gestellt. Dieser zeigt in wichtigen Momenten seine Verletztheit über den Tod von Heinrich, die beiden waren gut befreundet. Hier kann psychologisch geholfen werden um einen starken Verbündeten zu behalten.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Maksim als Verbündeter</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können Sir Charles fangen, da keiner der Gäste an die Reling gelassen wird, oder diese abgesperrt ist. So kann auch ein Versuch als Thunfisch in der Küche zu fliehen verhindert werden.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wird geschickt gefangen</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sollen Charles befragen und seine Motive kennen lernen, damit sie den politischen und diplomatischen Schaden abwenden können. Er erzählt ihnen von den Jahrhunderten langen Vorbereitungen und wie er nicht der Einzige in hohen Positionen ist. Der Teufel sucht seinesgleichen und wird seinen Plan in gut einem Jahr in die Tat umsetzen. Passt man gut auf so merkt man, das in Charles eine Münze steckt.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besiegt so hinterlässt er, nachdem seine Überreste fast komplett verdampft sind, eine Münze mit einer Teufelsprägung. Janette kann diese wiedererkennen, die Kreatur in „Das namenlose Monster“ oder „</a:t>
            </a:r>
            <a:r>
              <a:rPr lang="de-DE" sz="1200" kern="100" dirty="0" err="1">
                <a:effectLst/>
                <a:latin typeface="Liberation Serif"/>
                <a:ea typeface="NSimSun" panose="02010609030101010101" pitchFamily="49" charset="-122"/>
                <a:cs typeface="Lucida Sans" panose="020B0602030504020204" pitchFamily="34" charset="0"/>
              </a:rPr>
              <a:t>Obluda</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Kter</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Nem</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Sv</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Jm</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err="1">
                <a:effectLst/>
                <a:latin typeface="Liberation Serif"/>
                <a:ea typeface="NSimSun" panose="02010609030101010101" pitchFamily="49" charset="-122"/>
                <a:cs typeface="Lucida Sans" panose="020B0602030504020204" pitchFamily="34" charset="0"/>
              </a:rPr>
              <a:t>no</a:t>
            </a:r>
            <a:r>
              <a:rPr lang="de-DE" sz="1200" kern="100" dirty="0">
                <a:effectLst/>
                <a:latin typeface="Liberation Serif"/>
                <a:ea typeface="NSimSun" panose="02010609030101010101" pitchFamily="49" charset="-122"/>
                <a:cs typeface="Lucida Sans" panose="020B0602030504020204" pitchFamily="34" charset="0"/>
              </a:rPr>
              <a:t>“ hat nach seinem Selbstmord ebenfalls so eine hinterlassen. Die Spur der Münze führt nach Prag und von dort nach Erfurt.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angegriffen oder tollpatschig in die Ecke gedrängt dann wird er kämpfen. Silber schadet ihm aber er kann Körperteile schnell nachwachsen lassen. Auch kann er sich schnell an unterschiedlichen Gliedmaßen verstärken oder Tierformen annehmen.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Kampf gegen Charles</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Am wichtigsten ist, dass niemand mitbekommt, das etwas Dämonisches vor sich geht. Egal ob der Kapitän oder die Crew und Gäste. Denn sonst wird der Kapitän extrem paranoid und lässt niemanden von Bord in der nächsten Ankunft in Gibraltar.</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Schluss</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Man kommt in Gibraltar an</a:t>
            </a:r>
          </a:p>
          <a:p>
            <a:endParaRPr lang="de-DE" dirty="0"/>
          </a:p>
        </p:txBody>
      </p:sp>
      <p:sp>
        <p:nvSpPr>
          <p:cNvPr id="4" name="Foliennummernplatzhalter 3">
            <a:extLst>
              <a:ext uri="{FF2B5EF4-FFF2-40B4-BE49-F238E27FC236}">
                <a16:creationId xmlns:a16="http://schemas.microsoft.com/office/drawing/2014/main" id="{03F62937-A010-8800-381E-BC90DCAA39D3}"/>
              </a:ext>
            </a:extLst>
          </p:cNvPr>
          <p:cNvSpPr>
            <a:spLocks noGrp="1"/>
          </p:cNvSpPr>
          <p:nvPr>
            <p:ph type="sldNum" sz="quarter" idx="5"/>
          </p:nvPr>
        </p:nvSpPr>
        <p:spPr/>
        <p:txBody>
          <a:bodyPr/>
          <a:lstStyle/>
          <a:p>
            <a:fld id="{10AF1F6F-0BEA-4C63-A883-E6813F65F2BA}" type="slidenum">
              <a:rPr lang="de-DE" smtClean="0"/>
              <a:t>3</a:t>
            </a:fld>
            <a:endParaRPr lang="de-DE"/>
          </a:p>
        </p:txBody>
      </p:sp>
    </p:spTree>
    <p:extLst>
      <p:ext uri="{BB962C8B-B14F-4D97-AF65-F5344CB8AC3E}">
        <p14:creationId xmlns:p14="http://schemas.microsoft.com/office/powerpoint/2010/main" val="904445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35586-7DB5-E939-155A-4E80E3152A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634A761-DB30-B436-6857-AA25ECF44DC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BAA147B-ACDB-849C-019E-564FE555B5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Hier findet man unter den Menschen eine sehr nervöse Frau welche zu fliehen versucht. Es ist Janette aus München, auf der Suche nach mehr Antworten.</a:t>
            </a:r>
            <a:br>
              <a:rPr lang="de-DE" dirty="0"/>
            </a:br>
            <a:br>
              <a:rPr lang="de-DE" dirty="0"/>
            </a:br>
            <a:r>
              <a:rPr lang="de-DE" dirty="0"/>
              <a:t>Janette Landgraf (27), Bibliothekarin in der </a:t>
            </a:r>
            <a:r>
              <a:rPr lang="de-DE" b="0" i="0" u="none" strike="noStrike" dirty="0">
                <a:solidFill>
                  <a:srgbClr val="0645AD"/>
                </a:solidFill>
                <a:effectLst/>
                <a:latin typeface="Arial" panose="020B0604020202020204" pitchFamily="34" charset="0"/>
                <a:hlinkClick r:id="rId3"/>
              </a:rPr>
              <a:t>Hof- und Staatsbibliothek</a:t>
            </a:r>
            <a:r>
              <a:rPr lang="de-DE" b="0" i="0" u="none" strike="noStrike" dirty="0">
                <a:solidFill>
                  <a:srgbClr val="0645AD"/>
                </a:solidFill>
                <a:effectLst/>
                <a:latin typeface="Arial" panose="020B0604020202020204" pitchFamily="34" charset="0"/>
              </a:rPr>
              <a:t>. Extrovertiert und gesprächig, bei wissenschaftlichen Dingen ruhig und sehr genau.</a:t>
            </a:r>
            <a:br>
              <a:rPr lang="de-DE" b="0" i="0" u="none" strike="noStrike" dirty="0">
                <a:solidFill>
                  <a:srgbClr val="0645AD"/>
                </a:solidFill>
                <a:effectLst/>
                <a:latin typeface="Arial" panose="020B0604020202020204" pitchFamily="34" charset="0"/>
              </a:rPr>
            </a:br>
            <a:r>
              <a:rPr lang="de-DE" b="0" i="0" u="none" strike="noStrike" dirty="0">
                <a:solidFill>
                  <a:srgbClr val="0645AD"/>
                </a:solidFill>
                <a:effectLst/>
                <a:latin typeface="Arial" panose="020B0604020202020204" pitchFamily="34" charset="0"/>
              </a:rPr>
              <a:t>Zuständig für kulturelle Schriften und Sagen, spezialisiert auf Osteuropa. Hat ein Buch gefunden „Monstrum, </a:t>
            </a:r>
            <a:r>
              <a:rPr lang="de-DE" b="0" i="0" u="none" strike="noStrike" dirty="0" err="1">
                <a:solidFill>
                  <a:srgbClr val="0645AD"/>
                </a:solidFill>
                <a:effectLst/>
                <a:latin typeface="Arial" panose="020B0604020202020204" pitchFamily="34" charset="0"/>
              </a:rPr>
              <a:t>rituál</a:t>
            </a:r>
            <a:r>
              <a:rPr lang="de-DE" b="0" i="0" u="none" strike="noStrike" dirty="0">
                <a:solidFill>
                  <a:srgbClr val="0645AD"/>
                </a:solidFill>
                <a:effectLst/>
                <a:latin typeface="Arial" panose="020B0604020202020204" pitchFamily="34" charset="0"/>
              </a:rPr>
              <a:t> “, eine semi-alte Schrift über Rituale in der Tschechoslowakei. Hier findet man eine Erklärung über Runenschrift zur Bändigung von bösen Wesen und wie man sich deren Kräfte zu Nutzen machen kann.</a:t>
            </a:r>
            <a:endParaRPr lang="de-DE" dirty="0"/>
          </a:p>
          <a:p>
            <a:r>
              <a:rPr lang="de-DE" dirty="0"/>
              <a:t>Sie wurde von den Helden vor ihrem eigenen Enkel gerettet und nun weiß sie, dass ihr zukünftiger Ehemann Maximilian sein wird.</a:t>
            </a:r>
          </a:p>
          <a:p>
            <a:endParaRPr lang="de-DE" dirty="0"/>
          </a:p>
          <a:p>
            <a:endParaRPr lang="de-DE" dirty="0"/>
          </a:p>
          <a:p>
            <a:pPr marL="742950" lvl="1" indent="-285750">
              <a:spcBef>
                <a:spcPts val="1000"/>
              </a:spcBef>
              <a:spcAft>
                <a:spcPts val="600"/>
              </a:spcAft>
              <a:buFont typeface="Arial" panose="020B0604020202020204" pitchFamily="34" charset="0"/>
              <a:buChar char=""/>
            </a:pPr>
            <a:r>
              <a:rPr lang="de-DE" sz="1600" b="1" kern="100" dirty="0">
                <a:effectLst/>
                <a:latin typeface="Liberation Sans"/>
                <a:ea typeface="Microsoft YaHei" panose="020B0503020204020204" pitchFamily="34" charset="-122"/>
              </a:rPr>
              <a:t>Unter uns</a:t>
            </a:r>
          </a:p>
          <a:p>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Musik und Ambiente:</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Klavier: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4"/>
              </a:rPr>
              <a:t>https://www.youtube.com/watch?v=6NXo0p0fe_0</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Dampfschiff: </a:t>
            </a:r>
            <a:r>
              <a:rPr lang="de-DE" sz="1200" u="sng" kern="100" dirty="0">
                <a:solidFill>
                  <a:srgbClr val="0563C1"/>
                </a:solidFill>
                <a:effectLst/>
                <a:latin typeface="Liberation Serif"/>
                <a:ea typeface="NSimSun" panose="02010609030101010101" pitchFamily="49" charset="-122"/>
                <a:cs typeface="Lucida Sans" panose="020B0602030504020204" pitchFamily="34" charset="0"/>
                <a:hlinkClick r:id="rId5"/>
              </a:rPr>
              <a:t>https://www.youtube.com/watch?v=gGpxklFw5GY</a:t>
            </a:r>
            <a:endParaRPr lang="de-DE" sz="1200" kern="100" dirty="0">
              <a:effectLst/>
              <a:latin typeface="Liberation Serif"/>
              <a:ea typeface="NSimSun" panose="02010609030101010101" pitchFamily="49" charset="-122"/>
              <a:cs typeface="Lucida Sans" panose="020B0602030504020204" pitchFamily="34" charset="0"/>
            </a:endParaRP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Einleitung</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sind am Abend des 07.05.1882 auf der Suche nach dem Gestaltwandler. Der Besatzung unter Kapitän </a:t>
            </a:r>
            <a:r>
              <a:rPr lang="de-DE" sz="1200" kern="100" dirty="0" err="1">
                <a:effectLst/>
                <a:latin typeface="Liberation Serif"/>
                <a:ea typeface="NSimSun" panose="02010609030101010101" pitchFamily="49" charset="-122"/>
                <a:cs typeface="Lucida Sans" panose="020B0602030504020204" pitchFamily="34" charset="0"/>
              </a:rPr>
              <a:t>Gunbald</a:t>
            </a:r>
            <a:r>
              <a:rPr lang="de-DE" sz="1200" kern="100" dirty="0">
                <a:effectLst/>
                <a:latin typeface="Liberation Serif"/>
                <a:ea typeface="NSimSun" panose="02010609030101010101" pitchFamily="49" charset="-122"/>
                <a:cs typeface="Lucida Sans" panose="020B0602030504020204" pitchFamily="34" charset="0"/>
              </a:rPr>
              <a:t> Karlos wird erklärt, dass Heinrich unter den Toden ist, er wurde fachmännisch verkleidet.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Sir Charles als Chef der Firma hat schon oft gewechselt, meistens war die vorherige Person unter mysteriösen Umständen verschwunden.</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Hauptteil</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Janette ist unter den Passagieren und wird bei der Suche entdeckt. Wird sie nicht mit Silber überprüft, dann wird sie von Sir Charles gespielt und die Geschichte dreht sich um ihre Entführung und die Verhandlungen um seine und ihre Freiheit.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Entführt Janette</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Auf die Seite der Helden wird ihnen der bekannte Leibwächter des Luxusabteils, Maksim Saizew gestellt. Dieser zeigt in wichtigen Momenten seine Verletztheit über den Tod von Heinrich, die beiden waren gut befreundet. Hier kann psychologisch geholfen werden um einen starken Verbündeten zu behalten.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Maksim als Verbündeter</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können Sir Charles fangen, da keiner der Gäste an die Reling gelassen wird, oder diese abgesperrt ist. So kann auch ein Versuch als Thunfisch in der Küche zu fliehen verhindert werden.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Charles wird geschickt gefangen</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Die Helden sollen Charles befragen und seine Motive kennen lernen, damit sie den politischen und diplomatischen Schaden abwenden können. Er erzählt ihnen von den Jahrhunderten langen Vorbereitungen und wie er nicht der Einzige in hohen Positionen ist. Der Teufel sucht seinesgleichen und wird seinen Plan in gut einem Jahr in die Tat umsetzen. Passt man gut auf so merkt man, das in Charles eine Münze steckt.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besiegt so hinterlässt er, nachdem seine Überreste fast komplett verdampft sind, eine Münze mit einer Teufelsprägung. Janette kann diese wiedererkennen, die Kreatur in „Das namenlose Monster“ oder „</a:t>
            </a:r>
            <a:r>
              <a:rPr lang="de-DE" sz="1200" kern="100" dirty="0" err="1">
                <a:effectLst/>
                <a:latin typeface="Liberation Serif"/>
                <a:ea typeface="NSimSun" panose="02010609030101010101" pitchFamily="49" charset="-122"/>
                <a:cs typeface="Lucida Sans" panose="020B0602030504020204" pitchFamily="34" charset="0"/>
              </a:rPr>
              <a:t>Obluda</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Kter</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Nem</a:t>
            </a:r>
            <a:r>
              <a:rPr lang="zh-CN" sz="1200" kern="100" dirty="0">
                <a:effectLst/>
                <a:latin typeface="Liberation Serif"/>
                <a:ea typeface="NSimSun" panose="02010609030101010101" pitchFamily="49" charset="-122"/>
                <a:cs typeface="Lucida Sans" panose="020B0602030504020204" pitchFamily="34" charset="0"/>
              </a:rPr>
              <a:t>á</a:t>
            </a:r>
            <a:r>
              <a:rPr lang="de-DE" sz="1200" kern="100" dirty="0">
                <a:effectLst/>
                <a:latin typeface="Liberation Serif"/>
                <a:ea typeface="NSimSun" panose="02010609030101010101" pitchFamily="49" charset="-122"/>
                <a:cs typeface="Lucida Sans" panose="020B0602030504020204" pitchFamily="34" charset="0"/>
              </a:rPr>
              <a:t> Sv</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a:effectLst/>
                <a:latin typeface="Liberation Serif"/>
                <a:ea typeface="NSimSun" panose="02010609030101010101" pitchFamily="49" charset="-122"/>
                <a:cs typeface="Lucida Sans" panose="020B0602030504020204" pitchFamily="34" charset="0"/>
              </a:rPr>
              <a:t> </a:t>
            </a:r>
            <a:r>
              <a:rPr lang="de-DE" sz="1200" kern="100" dirty="0" err="1">
                <a:effectLst/>
                <a:latin typeface="Liberation Serif"/>
                <a:ea typeface="NSimSun" panose="02010609030101010101" pitchFamily="49" charset="-122"/>
                <a:cs typeface="Lucida Sans" panose="020B0602030504020204" pitchFamily="34" charset="0"/>
              </a:rPr>
              <a:t>Jm</a:t>
            </a:r>
            <a:r>
              <a:rPr lang="zh-CN" sz="1200" kern="100" dirty="0">
                <a:effectLst/>
                <a:latin typeface="Liberation Serif"/>
                <a:ea typeface="NSimSun" panose="02010609030101010101" pitchFamily="49" charset="-122"/>
                <a:cs typeface="Lucida Sans" panose="020B0602030504020204" pitchFamily="34" charset="0"/>
              </a:rPr>
              <a:t>é</a:t>
            </a:r>
            <a:r>
              <a:rPr lang="de-DE" sz="1200" kern="100" dirty="0" err="1">
                <a:effectLst/>
                <a:latin typeface="Liberation Serif"/>
                <a:ea typeface="NSimSun" panose="02010609030101010101" pitchFamily="49" charset="-122"/>
                <a:cs typeface="Lucida Sans" panose="020B0602030504020204" pitchFamily="34" charset="0"/>
              </a:rPr>
              <a:t>no</a:t>
            </a:r>
            <a:r>
              <a:rPr lang="de-DE" sz="1200" kern="100" dirty="0">
                <a:effectLst/>
                <a:latin typeface="Liberation Serif"/>
                <a:ea typeface="NSimSun" panose="02010609030101010101" pitchFamily="49" charset="-122"/>
                <a:cs typeface="Lucida Sans" panose="020B0602030504020204" pitchFamily="34" charset="0"/>
              </a:rPr>
              <a:t>“ hat nach seinem Selbstmord ebenfalls so eine hinterlassen. Die Spur der Münze führt nach Prag und von dort nach Erfurt.</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Wird Charles angegriffen oder tollpatschig in die Ecke gedrängt dann wird er kämpfen. Silber schadet ihm aber er kann Körperteile schnell nachwachsen lassen. Auch kann er sich schnell an unterschiedlichen Gliedmaßen verstärken oder Tierformen annehmen. </a:t>
            </a:r>
            <a:r>
              <a:rPr lang="de-DE" sz="1200" kern="100" dirty="0">
                <a:solidFill>
                  <a:srgbClr val="FF0000"/>
                </a:solidFill>
                <a:effectLst/>
                <a:latin typeface="Liberation Serif"/>
                <a:ea typeface="NSimSun" panose="02010609030101010101" pitchFamily="49" charset="-122"/>
                <a:cs typeface="Lucida Sans" panose="020B0602030504020204" pitchFamily="34" charset="0"/>
              </a:rPr>
              <a:t>-&gt; Kampf gegen Charles</a:t>
            </a:r>
            <a:endParaRPr lang="de-DE" sz="1200" kern="100" dirty="0">
              <a:effectLst/>
              <a:latin typeface="Liberation Serif"/>
              <a:ea typeface="NSimSun" panose="02010609030101010101" pitchFamily="49" charset="-122"/>
              <a:cs typeface="Lucida Sans" panose="020B0602030504020204" pitchFamily="34" charset="0"/>
            </a:endParaRP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Am wichtigsten ist, dass niemand mitbekommt, das etwas Dämonisches vor sich geht. Egal ob der Kapitän oder die Crew und Gäste. Denn sonst wird der Kapitän extrem paranoid und lässt niemanden von Bord in der nächsten Ankunft in Gibraltar.</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 </a:t>
            </a:r>
          </a:p>
          <a:p>
            <a:pPr marL="1143000" lvl="2" indent="-228600">
              <a:spcBef>
                <a:spcPts val="700"/>
              </a:spcBef>
              <a:spcAft>
                <a:spcPts val="600"/>
              </a:spcAft>
              <a:buFont typeface="Arial" panose="020B0604020202020204" pitchFamily="34" charset="0"/>
              <a:buChar char=""/>
            </a:pPr>
            <a:r>
              <a:rPr lang="de-DE" sz="1400" b="1" kern="100" dirty="0">
                <a:effectLst/>
                <a:latin typeface="Liberation Sans"/>
                <a:ea typeface="Microsoft YaHei" panose="020B0503020204020204" pitchFamily="34" charset="-122"/>
              </a:rPr>
              <a:t>Schluss</a:t>
            </a:r>
          </a:p>
          <a:p>
            <a:pPr>
              <a:lnSpc>
                <a:spcPct val="115000"/>
              </a:lnSpc>
              <a:spcAft>
                <a:spcPts val="700"/>
              </a:spcAft>
            </a:pPr>
            <a:r>
              <a:rPr lang="de-DE" sz="1200" kern="100" dirty="0">
                <a:effectLst/>
                <a:latin typeface="Liberation Serif"/>
                <a:ea typeface="NSimSun" panose="02010609030101010101" pitchFamily="49" charset="-122"/>
                <a:cs typeface="Lucida Sans" panose="020B0602030504020204" pitchFamily="34" charset="0"/>
              </a:rPr>
              <a:t>Man kommt in Gibraltar an</a:t>
            </a:r>
          </a:p>
          <a:p>
            <a:endParaRPr lang="de-DE" dirty="0"/>
          </a:p>
        </p:txBody>
      </p:sp>
      <p:sp>
        <p:nvSpPr>
          <p:cNvPr id="4" name="Foliennummernplatzhalter 3">
            <a:extLst>
              <a:ext uri="{FF2B5EF4-FFF2-40B4-BE49-F238E27FC236}">
                <a16:creationId xmlns:a16="http://schemas.microsoft.com/office/drawing/2014/main" id="{65C88542-C636-07FB-27F4-80FCCAF0FF7E}"/>
              </a:ext>
            </a:extLst>
          </p:cNvPr>
          <p:cNvSpPr>
            <a:spLocks noGrp="1"/>
          </p:cNvSpPr>
          <p:nvPr>
            <p:ph type="sldNum" sz="quarter" idx="5"/>
          </p:nvPr>
        </p:nvSpPr>
        <p:spPr/>
        <p:txBody>
          <a:bodyPr/>
          <a:lstStyle/>
          <a:p>
            <a:fld id="{10AF1F6F-0BEA-4C63-A883-E6813F65F2BA}" type="slidenum">
              <a:rPr lang="de-DE" smtClean="0"/>
              <a:t>4</a:t>
            </a:fld>
            <a:endParaRPr lang="de-DE"/>
          </a:p>
        </p:txBody>
      </p:sp>
    </p:spTree>
    <p:extLst>
      <p:ext uri="{BB962C8B-B14F-4D97-AF65-F5344CB8AC3E}">
        <p14:creationId xmlns:p14="http://schemas.microsoft.com/office/powerpoint/2010/main" val="148990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DAEF23-F3B6-C57A-77C2-8D262A22D4C3}"/>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E81156ED-5EC8-0000-FBC9-E96AC7A128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E566223-4414-BFF3-4BA9-14056DDA1CD0}"/>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E97D3A0A-53F0-145B-0928-24A1AB01976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3D64D98-143E-B9CA-6379-2F76E961B8FE}"/>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1377970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547998-3EE1-7640-C11A-FC8A0ABFDE6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E124885-F1EB-11A3-F0CE-4A0CEB14C1E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5232B45-C861-C378-94C6-0D1EB605CFFE}"/>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6586C6FE-1A08-A98E-7997-4C64CB83D1F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5C07384-063F-64FC-3938-3C19981ED85C}"/>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4002961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1988FE-622F-5448-D439-662E27497216}"/>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F87E4FD-F4E6-933C-ABE3-78417C715B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AA90D61-3C83-D910-E615-47B0D1954463}"/>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B63E9328-3832-73F6-9C06-1C638D6D678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5956C98-F535-C155-EB7F-5011876B1E24}"/>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586460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E96921-4741-96E2-8DC0-1F03BCD4B346}"/>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12F7B1C-600E-992E-43FD-1432860ABA1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327DEE36-3397-DCFA-328C-E694763286F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16932AA-5596-C835-EF6E-ADA51C4EEFFD}"/>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6" name="Fußzeilenplatzhalter 5">
            <a:extLst>
              <a:ext uri="{FF2B5EF4-FFF2-40B4-BE49-F238E27FC236}">
                <a16:creationId xmlns:a16="http://schemas.microsoft.com/office/drawing/2014/main" id="{6818FFB3-EB2A-3C93-AC80-BE133BDDA00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CDA65B6-BDFC-C3A6-6EE5-4E5BA7F79FCD}"/>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2357220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5CE521-7B06-C390-7F76-DF48FB1349B2}"/>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EA710BED-D08E-A274-1B68-7F0203EB4C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70AFFA3-F578-89D8-E315-7BE80C51A8B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0E7360D9-E599-15D1-31CD-7DABE4510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015E4DB-51DE-1983-3E8F-C61A493E32FA}"/>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9730DB33-EA83-C77F-7DD5-0FA8A62E66F3}"/>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8" name="Fußzeilenplatzhalter 7">
            <a:extLst>
              <a:ext uri="{FF2B5EF4-FFF2-40B4-BE49-F238E27FC236}">
                <a16:creationId xmlns:a16="http://schemas.microsoft.com/office/drawing/2014/main" id="{9FAA1D22-5F3B-97C6-04E0-8A30E55092FD}"/>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C87D9E43-ECA6-9932-FE80-182D76A3D284}"/>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340086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35903A-67B4-EFE4-BB99-FA5ABE69B70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80F14015-E11A-2FDE-6F9F-23DB30DDD544}"/>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4" name="Fußzeilenplatzhalter 3">
            <a:extLst>
              <a:ext uri="{FF2B5EF4-FFF2-40B4-BE49-F238E27FC236}">
                <a16:creationId xmlns:a16="http://schemas.microsoft.com/office/drawing/2014/main" id="{75014F5D-CB40-8345-DF84-E2F8188AC218}"/>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5A847F6F-7992-774B-E763-3899A91EE3B9}"/>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1419721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E9D5C05-4656-5F07-FA72-33A0B15D5849}"/>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3" name="Fußzeilenplatzhalter 2">
            <a:extLst>
              <a:ext uri="{FF2B5EF4-FFF2-40B4-BE49-F238E27FC236}">
                <a16:creationId xmlns:a16="http://schemas.microsoft.com/office/drawing/2014/main" id="{83221C1E-669C-A5DA-7385-00135A4F18EE}"/>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7BA9AD01-2D5C-C58A-4A01-5429BD112ED9}"/>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87336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F6FDCD-20D9-7DBC-CBC6-DC85EA425C8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52374A8A-19B0-7150-06BE-CAF2A0D399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CF9EBD4-BB5C-3C46-BB60-050A5AC999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A9D3729-28D0-6F3D-F730-C98CE864CE7C}"/>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6" name="Fußzeilenplatzhalter 5">
            <a:extLst>
              <a:ext uri="{FF2B5EF4-FFF2-40B4-BE49-F238E27FC236}">
                <a16:creationId xmlns:a16="http://schemas.microsoft.com/office/drawing/2014/main" id="{46471043-6DE9-DD97-C81A-E2AE18F196DC}"/>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DC89277-8208-D2C5-08E6-E4E3D1DBD8ED}"/>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2549618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9E13CF-71FA-2A18-9F41-53F39A43814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1BA69FD3-93BA-B132-CA8C-C13ED4E817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EE5A6DE-1687-5606-E755-D6E2E9E29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BE88038-2C29-BB86-D073-DAC63D6A399A}"/>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6" name="Fußzeilenplatzhalter 5">
            <a:extLst>
              <a:ext uri="{FF2B5EF4-FFF2-40B4-BE49-F238E27FC236}">
                <a16:creationId xmlns:a16="http://schemas.microsoft.com/office/drawing/2014/main" id="{8969F97B-7B8B-7851-9FC8-4A2AB3D6043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BC8F8B0-3B4D-E204-2F24-D7D357A4B046}"/>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1819229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268B6A-6B18-6468-07DA-D500C7039236}"/>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AF19A7F2-A01F-B586-505B-9CCB389DCE3A}"/>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9BCAD74-D88C-7DBB-6A0C-04A87F391AD3}"/>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17069FEF-8B42-A24E-D3DD-75C9396A44E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3FD4D2C-F603-02CE-5488-D378E4CD7281}"/>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134485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1E5D995-D92E-92DC-AB14-C2530A8A4FE1}"/>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9E96F099-66B1-BB29-D4A4-901CE8281E3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7F2414E-AF66-C814-ABAB-C10A8D02C6B4}"/>
              </a:ext>
            </a:extLst>
          </p:cNvPr>
          <p:cNvSpPr>
            <a:spLocks noGrp="1"/>
          </p:cNvSpPr>
          <p:nvPr>
            <p:ph type="dt" sz="half" idx="10"/>
          </p:nvPr>
        </p:nvSpPr>
        <p:spPr/>
        <p:txBody>
          <a:body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98031880-ADC5-1377-C03B-8EA9583CD09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E575CC4-14A3-C320-06A3-DAA49E27CB54}"/>
              </a:ext>
            </a:extLst>
          </p:cNvPr>
          <p:cNvSpPr>
            <a:spLocks noGrp="1"/>
          </p:cNvSpPr>
          <p:nvPr>
            <p:ph type="sldNum" sz="quarter" idx="12"/>
          </p:nvPr>
        </p:nvSpPr>
        <p:spPr/>
        <p:txBody>
          <a:bodyPr/>
          <a:lstStyle/>
          <a:p>
            <a:fld id="{759CFA13-731E-4A4F-8BB8-B737869E65DF}" type="slidenum">
              <a:rPr lang="de-DE" smtClean="0"/>
              <a:t>‹Nr.›</a:t>
            </a:fld>
            <a:endParaRPr lang="de-DE"/>
          </a:p>
        </p:txBody>
      </p:sp>
    </p:spTree>
    <p:extLst>
      <p:ext uri="{BB962C8B-B14F-4D97-AF65-F5344CB8AC3E}">
        <p14:creationId xmlns:p14="http://schemas.microsoft.com/office/powerpoint/2010/main" val="10948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5A35E2A-D0EE-2766-D51A-DA88A7BD53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68FDDC8A-B111-52D2-340C-6EAF9DF9B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822C146-70AC-F03F-3851-5362D83FFC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405DE-AC37-4EF6-9359-45E13D83DE32}" type="datetimeFigureOut">
              <a:rPr lang="de-DE" smtClean="0"/>
              <a:t>08.02.2025</a:t>
            </a:fld>
            <a:endParaRPr lang="de-DE"/>
          </a:p>
        </p:txBody>
      </p:sp>
      <p:sp>
        <p:nvSpPr>
          <p:cNvPr id="5" name="Fußzeilenplatzhalter 4">
            <a:extLst>
              <a:ext uri="{FF2B5EF4-FFF2-40B4-BE49-F238E27FC236}">
                <a16:creationId xmlns:a16="http://schemas.microsoft.com/office/drawing/2014/main" id="{176404BC-DB33-48A5-44F0-FBE9ABD471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7C731B55-7526-1D2A-065F-5372641ABF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9CFA13-731E-4A4F-8BB8-B737869E65DF}" type="slidenum">
              <a:rPr lang="de-DE" smtClean="0"/>
              <a:t>‹Nr.›</a:t>
            </a:fld>
            <a:endParaRPr lang="de-DE"/>
          </a:p>
        </p:txBody>
      </p:sp>
    </p:spTree>
    <p:extLst>
      <p:ext uri="{BB962C8B-B14F-4D97-AF65-F5344CB8AC3E}">
        <p14:creationId xmlns:p14="http://schemas.microsoft.com/office/powerpoint/2010/main" val="931107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1B349-3D29-4B04-1807-F78A8238224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B67C4F2-2A5B-9588-2DE5-9AF29964EAF3}"/>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FDEFEDAC-126B-6CF6-70AD-A0432280F6CA}"/>
              </a:ext>
            </a:extLst>
          </p:cNvPr>
          <p:cNvSpPr>
            <a:spLocks noGrp="1"/>
          </p:cNvSpPr>
          <p:nvPr>
            <p:ph type="subTitle" idx="1"/>
          </p:nvPr>
        </p:nvSpPr>
        <p:spPr/>
        <p:txBody>
          <a:bodyPr/>
          <a:lstStyle/>
          <a:p>
            <a:endParaRPr lang="de-DE"/>
          </a:p>
        </p:txBody>
      </p:sp>
      <p:sp>
        <p:nvSpPr>
          <p:cNvPr id="4" name="Rechteck 3">
            <a:extLst>
              <a:ext uri="{FF2B5EF4-FFF2-40B4-BE49-F238E27FC236}">
                <a16:creationId xmlns:a16="http://schemas.microsoft.com/office/drawing/2014/main" id="{BAA627A8-B4DE-6A5B-F903-950CABCBF1CB}"/>
              </a:ext>
            </a:extLst>
          </p:cNvPr>
          <p:cNvSpPr/>
          <p:nvPr/>
        </p:nvSpPr>
        <p:spPr>
          <a:xfrm>
            <a:off x="-169379" y="-67738"/>
            <a:ext cx="12872621" cy="715540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feld 4">
            <a:extLst>
              <a:ext uri="{FF2B5EF4-FFF2-40B4-BE49-F238E27FC236}">
                <a16:creationId xmlns:a16="http://schemas.microsoft.com/office/drawing/2014/main" id="{A3CDFD69-663E-FB0A-5CEE-D133E1D98156}"/>
              </a:ext>
            </a:extLst>
          </p:cNvPr>
          <p:cNvSpPr txBox="1"/>
          <p:nvPr/>
        </p:nvSpPr>
        <p:spPr>
          <a:xfrm>
            <a:off x="1117716" y="1440667"/>
            <a:ext cx="10298430" cy="3154710"/>
          </a:xfrm>
          <a:prstGeom prst="rect">
            <a:avLst/>
          </a:prstGeom>
          <a:noFill/>
        </p:spPr>
        <p:txBody>
          <a:bodyPr wrap="square" rtlCol="0">
            <a:spAutoFit/>
          </a:bodyPr>
          <a:lstStyle/>
          <a:p>
            <a:r>
              <a:rPr lang="de-DE" sz="19900" dirty="0">
                <a:solidFill>
                  <a:schemeClr val="bg1"/>
                </a:solidFill>
                <a:latin typeface="Rastanty Cortez" panose="02000506000000020003" pitchFamily="2" charset="0"/>
              </a:rPr>
              <a:t>UNTER UNS</a:t>
            </a:r>
          </a:p>
        </p:txBody>
      </p:sp>
    </p:spTree>
    <p:extLst>
      <p:ext uri="{BB962C8B-B14F-4D97-AF65-F5344CB8AC3E}">
        <p14:creationId xmlns:p14="http://schemas.microsoft.com/office/powerpoint/2010/main" val="14238666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nextCondLst>
                <p:cond evt="onClick" delay="0">
                  <p:tgtEl>
                    <p:spTgt spid="4"/>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543962-5E88-0DC2-494A-FC55F9F4E3AF}"/>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F1AFCD3F-F195-8C10-DEE4-6F07452F16B1}"/>
              </a:ext>
            </a:extLst>
          </p:cNvPr>
          <p:cNvSpPr>
            <a:spLocks noGrp="1"/>
          </p:cNvSpPr>
          <p:nvPr>
            <p:ph type="subTitle" idx="1"/>
          </p:nvPr>
        </p:nvSpPr>
        <p:spPr/>
        <p:txBody>
          <a:bodyPr/>
          <a:lstStyle/>
          <a:p>
            <a:endParaRPr lang="de-DE"/>
          </a:p>
        </p:txBody>
      </p:sp>
      <p:sp>
        <p:nvSpPr>
          <p:cNvPr id="4" name="Rechteck 3">
            <a:extLst>
              <a:ext uri="{FF2B5EF4-FFF2-40B4-BE49-F238E27FC236}">
                <a16:creationId xmlns:a16="http://schemas.microsoft.com/office/drawing/2014/main" id="{BEBE7C54-0AFA-8700-D4C5-46EE35D01903}"/>
              </a:ext>
            </a:extLst>
          </p:cNvPr>
          <p:cNvSpPr/>
          <p:nvPr/>
        </p:nvSpPr>
        <p:spPr>
          <a:xfrm>
            <a:off x="-169379" y="-67738"/>
            <a:ext cx="12872621" cy="715540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33B117FB-A691-C89E-72E9-B964A9B685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609" y="3562660"/>
            <a:ext cx="3070933" cy="3070933"/>
          </a:xfrm>
          <a:prstGeom prst="rect">
            <a:avLst/>
          </a:prstGeom>
        </p:spPr>
      </p:pic>
      <p:pic>
        <p:nvPicPr>
          <p:cNvPr id="8" name="Grafik 7">
            <a:extLst>
              <a:ext uri="{FF2B5EF4-FFF2-40B4-BE49-F238E27FC236}">
                <a16:creationId xmlns:a16="http://schemas.microsoft.com/office/drawing/2014/main" id="{C9AB71CD-CEFE-0E43-AB1F-CBAD690888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0533" y="185025"/>
            <a:ext cx="3070933" cy="3070933"/>
          </a:xfrm>
          <a:prstGeom prst="rect">
            <a:avLst/>
          </a:prstGeom>
        </p:spPr>
      </p:pic>
      <p:pic>
        <p:nvPicPr>
          <p:cNvPr id="10" name="Grafik 9">
            <a:extLst>
              <a:ext uri="{FF2B5EF4-FFF2-40B4-BE49-F238E27FC236}">
                <a16:creationId xmlns:a16="http://schemas.microsoft.com/office/drawing/2014/main" id="{B50B6DB0-D714-AC3B-8929-11077C620A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210" y="185024"/>
            <a:ext cx="3070933" cy="3070933"/>
          </a:xfrm>
          <a:prstGeom prst="rect">
            <a:avLst/>
          </a:prstGeom>
        </p:spPr>
      </p:pic>
      <p:pic>
        <p:nvPicPr>
          <p:cNvPr id="12" name="Grafik 11">
            <a:extLst>
              <a:ext uri="{FF2B5EF4-FFF2-40B4-BE49-F238E27FC236}">
                <a16:creationId xmlns:a16="http://schemas.microsoft.com/office/drawing/2014/main" id="{6541C82A-1402-16EC-1EB9-C5E318B9E5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67455" y="185024"/>
            <a:ext cx="3070934" cy="3070934"/>
          </a:xfrm>
          <a:prstGeom prst="rect">
            <a:avLst/>
          </a:prstGeom>
        </p:spPr>
      </p:pic>
      <p:pic>
        <p:nvPicPr>
          <p:cNvPr id="14" name="Grafik 13">
            <a:extLst>
              <a:ext uri="{FF2B5EF4-FFF2-40B4-BE49-F238E27FC236}">
                <a16:creationId xmlns:a16="http://schemas.microsoft.com/office/drawing/2014/main" id="{9E8111C4-F26E-4A46-1386-7C9854FEAB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94933" y="3562660"/>
            <a:ext cx="3070932" cy="3070932"/>
          </a:xfrm>
          <a:prstGeom prst="rect">
            <a:avLst/>
          </a:prstGeom>
        </p:spPr>
      </p:pic>
      <p:pic>
        <p:nvPicPr>
          <p:cNvPr id="16" name="Grafik 15">
            <a:extLst>
              <a:ext uri="{FF2B5EF4-FFF2-40B4-BE49-F238E27FC236}">
                <a16:creationId xmlns:a16="http://schemas.microsoft.com/office/drawing/2014/main" id="{6958C3B1-A005-A75C-7678-7C81A1E696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7455" y="3562660"/>
            <a:ext cx="3070932" cy="3070932"/>
          </a:xfrm>
          <a:prstGeom prst="rect">
            <a:avLst/>
          </a:prstGeom>
        </p:spPr>
      </p:pic>
      <p:pic>
        <p:nvPicPr>
          <p:cNvPr id="1026" name="Picture 2" descr="Hoax 'Satanist' Coins at Bath Abbey | Wessex Archaeology">
            <a:extLst>
              <a:ext uri="{FF2B5EF4-FFF2-40B4-BE49-F238E27FC236}">
                <a16:creationId xmlns:a16="http://schemas.microsoft.com/office/drawing/2014/main" id="{967FB65D-FC30-C4E9-3F7E-1533A8B0CD0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2513" y="2505075"/>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40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4841D-D41D-2600-891E-CA75789A8C6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0B5D44-97FB-1222-2B9C-87EAFF246367}"/>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B1E5E01F-A99E-09CC-719E-9774A7E2E503}"/>
              </a:ext>
            </a:extLst>
          </p:cNvPr>
          <p:cNvSpPr>
            <a:spLocks noGrp="1"/>
          </p:cNvSpPr>
          <p:nvPr>
            <p:ph type="subTitle" idx="1"/>
          </p:nvPr>
        </p:nvSpPr>
        <p:spPr/>
        <p:txBody>
          <a:bodyPr/>
          <a:lstStyle/>
          <a:p>
            <a:endParaRPr lang="de-DE"/>
          </a:p>
        </p:txBody>
      </p:sp>
      <p:sp>
        <p:nvSpPr>
          <p:cNvPr id="4" name="Rechteck 3">
            <a:extLst>
              <a:ext uri="{FF2B5EF4-FFF2-40B4-BE49-F238E27FC236}">
                <a16:creationId xmlns:a16="http://schemas.microsoft.com/office/drawing/2014/main" id="{346F0A9F-65E3-5477-0773-689B09E348CC}"/>
              </a:ext>
            </a:extLst>
          </p:cNvPr>
          <p:cNvSpPr/>
          <p:nvPr/>
        </p:nvSpPr>
        <p:spPr>
          <a:xfrm>
            <a:off x="-169379" y="-67738"/>
            <a:ext cx="12872621" cy="715540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10ADA97B-EAB3-0760-2784-64C815772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pic>
        <p:nvPicPr>
          <p:cNvPr id="11" name="Grafik 10">
            <a:extLst>
              <a:ext uri="{FF2B5EF4-FFF2-40B4-BE49-F238E27FC236}">
                <a16:creationId xmlns:a16="http://schemas.microsoft.com/office/drawing/2014/main" id="{1A7EF5B5-68E0-EB47-E389-6B372F6AB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3250" y="476250"/>
            <a:ext cx="5905500" cy="5905500"/>
          </a:xfrm>
          <a:prstGeom prst="rect">
            <a:avLst/>
          </a:prstGeom>
        </p:spPr>
      </p:pic>
    </p:spTree>
    <p:extLst>
      <p:ext uri="{BB962C8B-B14F-4D97-AF65-F5344CB8AC3E}">
        <p14:creationId xmlns:p14="http://schemas.microsoft.com/office/powerpoint/2010/main" val="30548958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nextCondLst>
                <p:cond evt="onClick" delay="0">
                  <p:tgtEl>
                    <p:spTgt spid="7"/>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9973B-37F5-4E2C-73A2-7822200E213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B9D056-251F-03E6-45A8-70356C44B67F}"/>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10949D7C-39B6-84AC-F8E3-FDF1176DA24E}"/>
              </a:ext>
            </a:extLst>
          </p:cNvPr>
          <p:cNvSpPr>
            <a:spLocks noGrp="1"/>
          </p:cNvSpPr>
          <p:nvPr>
            <p:ph type="subTitle" idx="1"/>
          </p:nvPr>
        </p:nvSpPr>
        <p:spPr/>
        <p:txBody>
          <a:bodyPr/>
          <a:lstStyle/>
          <a:p>
            <a:endParaRPr lang="de-DE"/>
          </a:p>
        </p:txBody>
      </p:sp>
      <p:sp>
        <p:nvSpPr>
          <p:cNvPr id="4" name="Rechteck 3">
            <a:extLst>
              <a:ext uri="{FF2B5EF4-FFF2-40B4-BE49-F238E27FC236}">
                <a16:creationId xmlns:a16="http://schemas.microsoft.com/office/drawing/2014/main" id="{2473EF8D-2B8E-4FAF-0039-73A354D82022}"/>
              </a:ext>
            </a:extLst>
          </p:cNvPr>
          <p:cNvSpPr/>
          <p:nvPr/>
        </p:nvSpPr>
        <p:spPr>
          <a:xfrm>
            <a:off x="-169379" y="-67738"/>
            <a:ext cx="12872621" cy="715540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21CF7735-DBF9-F4EB-AA12-45E268A40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pic>
        <p:nvPicPr>
          <p:cNvPr id="11" name="Grafik 10">
            <a:extLst>
              <a:ext uri="{FF2B5EF4-FFF2-40B4-BE49-F238E27FC236}">
                <a16:creationId xmlns:a16="http://schemas.microsoft.com/office/drawing/2014/main" id="{082042C1-9D53-2822-7537-594001B3BA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3730" y="506730"/>
            <a:ext cx="5844540" cy="5844540"/>
          </a:xfrm>
          <a:prstGeom prst="rect">
            <a:avLst/>
          </a:prstGeom>
        </p:spPr>
      </p:pic>
      <p:pic>
        <p:nvPicPr>
          <p:cNvPr id="5" name="Grafik 4">
            <a:extLst>
              <a:ext uri="{FF2B5EF4-FFF2-40B4-BE49-F238E27FC236}">
                <a16:creationId xmlns:a16="http://schemas.microsoft.com/office/drawing/2014/main" id="{DCFF33BB-921E-2307-3CE5-B410EB04FA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3250" y="476250"/>
            <a:ext cx="5905500" cy="5905500"/>
          </a:xfrm>
          <a:prstGeom prst="rect">
            <a:avLst/>
          </a:prstGeom>
        </p:spPr>
      </p:pic>
    </p:spTree>
    <p:extLst>
      <p:ext uri="{BB962C8B-B14F-4D97-AF65-F5344CB8AC3E}">
        <p14:creationId xmlns:p14="http://schemas.microsoft.com/office/powerpoint/2010/main" val="246274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nextCondLst>
                <p:cond evt="onClick" delay="0">
                  <p:tgtEl>
                    <p:spTgt spid="11"/>
                  </p:tgtEl>
                </p:cond>
              </p:nextCondLst>
            </p:seq>
          </p:childTnLst>
        </p:cTn>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2316</Words>
  <Application>Microsoft Office PowerPoint</Application>
  <PresentationFormat>Breitbild</PresentationFormat>
  <Paragraphs>135</Paragraphs>
  <Slides>4</Slides>
  <Notes>4</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4</vt:i4>
      </vt:variant>
    </vt:vector>
  </HeadingPairs>
  <TitlesOfParts>
    <vt:vector size="12" baseType="lpstr">
      <vt:lpstr>Liberation Sans</vt:lpstr>
      <vt:lpstr>Liberation Serif</vt:lpstr>
      <vt:lpstr>Arial</vt:lpstr>
      <vt:lpstr>Calibri</vt:lpstr>
      <vt:lpstr>Calibri Light</vt:lpstr>
      <vt:lpstr>Consolas</vt:lpstr>
      <vt:lpstr>Rastanty Cortez</vt:lpstr>
      <vt:lpstr>Office</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Dauner</dc:creator>
  <cp:lastModifiedBy>Julian Dauner</cp:lastModifiedBy>
  <cp:revision>6</cp:revision>
  <dcterms:created xsi:type="dcterms:W3CDTF">2025-02-07T19:55:59Z</dcterms:created>
  <dcterms:modified xsi:type="dcterms:W3CDTF">2025-02-08T19:13:07Z</dcterms:modified>
</cp:coreProperties>
</file>